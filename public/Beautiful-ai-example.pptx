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6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764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109046"/>
            <a:ext cx="7115101" cy="10976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4322"/>
              </a:lnSpc>
            </a:pPr>
            <a:r>
              <a:rPr lang="en-US" sz="3713" kern="0" spc="-223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Unlocking Productivity: Leveraging</a:t>
            </a:r>
            <a:br>
              <a:rPr lang="en-US" sz="3713" kern="0" spc="-223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3713" kern="0" spc="-223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for Product Management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6262371"/>
            <a:ext cx="6734101" cy="1955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540"/>
              </a:lnSpc>
              <a:spcBef>
                <a:spcPts val="431"/>
              </a:spcBef>
            </a:pPr>
            <a:r>
              <a:rPr lang="en-US" sz="1114" kern="0" spc="-22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Explore how AI can revolutionize product management workflows and boost productivity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futuristic product management, in a &quot;Flat black-and-white vector line illustration. Simple shapes and lines, with even line weight and no shading. Very minimal, iconic and graphic.&quot; style"/>
          <p:cNvPicPr>
            <a:picLocks noChangeAspect="1"/>
          </p:cNvPicPr>
          <p:nvPr/>
        </p:nvPicPr>
        <p:blipFill>
          <a:blip r:embed="rId3"/>
          <a:srcRect t="14193" b="14193"/>
          <a:stretch/>
        </p:blipFill>
        <p:spPr>
          <a:xfrm>
            <a:off x="0" y="0"/>
            <a:ext cx="12192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8861"/>
            <a:ext cx="11334750" cy="5543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65"/>
              </a:lnSpc>
            </a:pPr>
            <a:r>
              <a:rPr lang="en-US" sz="3750" kern="0" spc="-22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Welcome to the Future of Product Management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1557412"/>
            <a:ext cx="5048250" cy="485486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986"/>
              </a:lnSpc>
              <a:buSzPct val="100000"/>
              <a:buChar char="•"/>
            </a:pPr>
            <a:r>
              <a:rPr lang="en-US" sz="2565" kern="0" spc="-154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Streamline Product Roadmapping</a:t>
            </a:r>
            <a:endParaRPr lang="en-US" dirty="0"/>
          </a:p>
          <a:p>
            <a:pPr marL="241300" lvl="1" indent="0" algn="l">
              <a:lnSpc>
                <a:spcPts val="2265"/>
              </a:lnSpc>
              <a:spcBef>
                <a:spcPts val="310"/>
              </a:spcBef>
              <a:buNone/>
            </a:pP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Leverage AI to efficiently plan and manage your</a:t>
            </a:r>
            <a:b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 roadmap, ensuring alignment with</a:t>
            </a:r>
            <a:b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business goals.</a:t>
            </a:r>
            <a:endParaRPr lang="en-US" dirty="0"/>
          </a:p>
          <a:p>
            <a:pPr marL="241300" indent="-241300" algn="l">
              <a:lnSpc>
                <a:spcPts val="2986"/>
              </a:lnSpc>
              <a:spcBef>
                <a:spcPts val="2429"/>
              </a:spcBef>
              <a:buSzPct val="100000"/>
              <a:buChar char="•"/>
            </a:pPr>
            <a:r>
              <a:rPr lang="en-US" sz="2565" kern="0" spc="-154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Uncover Deeper Customer</a:t>
            </a:r>
            <a:br>
              <a:rPr lang="en-US" sz="2565" kern="0" spc="-154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2565" kern="0" spc="-154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Insights</a:t>
            </a:r>
            <a:endParaRPr lang="en-US" dirty="0"/>
          </a:p>
          <a:p>
            <a:pPr marL="241300" lvl="1" indent="0" algn="l">
              <a:lnSpc>
                <a:spcPts val="2265"/>
              </a:lnSpc>
              <a:spcBef>
                <a:spcPts val="310"/>
              </a:spcBef>
              <a:buNone/>
            </a:pP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Harness the power of AI to analyze customer data</a:t>
            </a:r>
            <a:b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and gain valuable, actionable insights to drive</a:t>
            </a:r>
            <a:b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informed decision-making.</a:t>
            </a:r>
            <a:endParaRPr lang="en-US" dirty="0"/>
          </a:p>
          <a:p>
            <a:pPr marL="241300" indent="-241300" algn="l">
              <a:lnSpc>
                <a:spcPts val="2986"/>
              </a:lnSpc>
              <a:spcBef>
                <a:spcPts val="2429"/>
              </a:spcBef>
              <a:buSzPct val="100000"/>
              <a:buChar char="•"/>
            </a:pPr>
            <a:r>
              <a:rPr lang="en-US" sz="2565" kern="0" spc="-154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Prioritize Tasks Intelligently</a:t>
            </a:r>
            <a:endParaRPr lang="en-US" dirty="0"/>
          </a:p>
          <a:p>
            <a:pPr marL="241300" lvl="1" indent="0" algn="l">
              <a:lnSpc>
                <a:spcPts val="2265"/>
              </a:lnSpc>
              <a:spcBef>
                <a:spcPts val="310"/>
              </a:spcBef>
              <a:buNone/>
            </a:pP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AI-driven task prioritization helps you focus on the</a:t>
            </a:r>
            <a:b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most impactful initiatives and maximize team</a:t>
            </a:r>
            <a:b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productivity.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0" y="1557412"/>
            <a:ext cx="5048250" cy="28788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2986"/>
              </a:lnSpc>
              <a:buSzPct val="100000"/>
              <a:buChar char="•"/>
            </a:pPr>
            <a:r>
              <a:rPr lang="en-US" sz="2565" kern="0" spc="-154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Proactively Mitigate Risks</a:t>
            </a:r>
            <a:endParaRPr lang="en-US" dirty="0"/>
          </a:p>
          <a:p>
            <a:pPr marL="241300" lvl="1" indent="0" algn="l">
              <a:lnSpc>
                <a:spcPts val="2265"/>
              </a:lnSpc>
              <a:spcBef>
                <a:spcPts val="310"/>
              </a:spcBef>
              <a:buNone/>
            </a:pP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AI-powered risk analysis tools identify potential</a:t>
            </a:r>
            <a:b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roadblocks and recommend strategies to</a:t>
            </a:r>
            <a:b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proactively address them.</a:t>
            </a:r>
            <a:endParaRPr lang="en-US" dirty="0"/>
          </a:p>
          <a:p>
            <a:pPr marL="241300" indent="-241300" algn="l">
              <a:lnSpc>
                <a:spcPts val="2986"/>
              </a:lnSpc>
              <a:spcBef>
                <a:spcPts val="2429"/>
              </a:spcBef>
              <a:buSzPct val="100000"/>
              <a:buChar char="•"/>
            </a:pPr>
            <a:r>
              <a:rPr lang="en-US" sz="2565" kern="0" spc="-154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Personalize Workflows</a:t>
            </a:r>
            <a:endParaRPr lang="en-US" dirty="0"/>
          </a:p>
          <a:p>
            <a:pPr marL="241300" lvl="1" indent="0" algn="l">
              <a:lnSpc>
                <a:spcPts val="2265"/>
              </a:lnSpc>
              <a:spcBef>
                <a:spcPts val="310"/>
              </a:spcBef>
              <a:buNone/>
            </a:pP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Customize your product management workflows</a:t>
            </a:r>
            <a:b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 AI-driven recommendations for optimal</a:t>
            </a:r>
            <a:b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39" kern="0" spc="-33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efficiency.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8861"/>
            <a:ext cx="11334750" cy="5543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65"/>
              </a:lnSpc>
            </a:pPr>
            <a:r>
              <a:rPr lang="en-US" sz="3750" kern="0" spc="-22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AI-Powered Product Roadmapping</a:t>
            </a: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000157"/>
            <a:ext cx="2409825" cy="1190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9125" y="2370106"/>
            <a:ext cx="1828726" cy="4522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AI-Driven Product</a:t>
            </a:r>
            <a:b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Prioritization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2000" y="3321658"/>
            <a:ext cx="1828726" cy="263332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3"/>
              </a:lnSpc>
            </a:pP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Leverage AI models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analyze market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trends, customer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feedback, and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business objectives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automatically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prioritize product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features and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initiatives for your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roadmap.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5976" y="2000157"/>
            <a:ext cx="2409825" cy="1190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14675" y="2255806"/>
            <a:ext cx="1542976" cy="6783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Predictive</a:t>
            </a:r>
            <a:b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Roadmap</a:t>
            </a:r>
            <a:b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Planning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2971800" y="3321658"/>
            <a:ext cx="1897151" cy="28966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3"/>
              </a:lnSpc>
            </a:pP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algorithms can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forecast market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demands, identify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potential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bottlenecks, and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suggest optimal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timelines for product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releases, helping you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build a more reliable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and adaptable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roadmap.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796" y="2000157"/>
            <a:ext cx="2400300" cy="1190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73530" y="2255806"/>
            <a:ext cx="1644866" cy="6783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Personalized</a:t>
            </a:r>
            <a:b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Roadmap</a:t>
            </a:r>
            <a:b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Recommendations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181600" y="3321658"/>
            <a:ext cx="1900120" cy="28966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3"/>
              </a:lnSpc>
            </a:pP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AI-powered tools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can provide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personalized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recommendations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for your product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roadmap based on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your unique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business needs, user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preferences, and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industry best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practices.</a:t>
            </a:r>
            <a:endParaRPr lang="en-US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5613" y="2000157"/>
            <a:ext cx="2409825" cy="11906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34275" y="2255806"/>
            <a:ext cx="1542976" cy="6783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Collaborative</a:t>
            </a:r>
            <a:b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Roadmap</a:t>
            </a:r>
            <a:b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30" kern="0" spc="-92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Visualization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7391400" y="3321658"/>
            <a:ext cx="1830083" cy="289666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3"/>
              </a:lnSpc>
            </a:pP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Leverage AI-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powered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collaboration and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visualization tools to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easily share your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 roadmap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 cross-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functional teams,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gather feedback,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and align on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priorities.</a:t>
            </a:r>
            <a:endParaRPr lang="en-US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5430" y="2000157"/>
            <a:ext cx="2409825" cy="11906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44075" y="2255806"/>
            <a:ext cx="1542976" cy="6783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530" kern="0" spc="-9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Dynamic</a:t>
            </a:r>
            <a:br>
              <a:rPr lang="en-US" sz="1530" kern="0" spc="-9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30" kern="0" spc="-9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Roadmap</a:t>
            </a:r>
            <a:br>
              <a:rPr lang="en-US" sz="1530" kern="0" spc="-9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30" kern="0" spc="-9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Adjustments</a:t>
            </a: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9601200" y="3321658"/>
            <a:ext cx="1904963" cy="263332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3"/>
              </a:lnSpc>
            </a:pP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can continuously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market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conditions and user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feedback, and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suggest real-time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adjustments to your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 roadmap to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ensure you stay agile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and responsive to</a:t>
            </a:r>
            <a:b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changing needs.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8861"/>
            <a:ext cx="11334750" cy="5543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65"/>
              </a:lnSpc>
            </a:pPr>
            <a:r>
              <a:rPr lang="en-US" sz="3750" kern="0" spc="-22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Intelligent Customer Insights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3797"/>
            <a:ext cx="11334750" cy="3290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592"/>
              </a:lnSpc>
              <a:spcBef>
                <a:spcPts val="776"/>
              </a:spcBef>
            </a:pPr>
            <a:r>
              <a:rPr lang="en-US" sz="1875" kern="0" spc="-38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 customer metrics powered by AI-driven analysis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400777"/>
            <a:ext cx="2595563" cy="3619022"/>
          </a:xfrm>
          <a:prstGeom prst="rect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8625" y="6163605"/>
            <a:ext cx="2690813" cy="2661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95"/>
              </a:lnSpc>
            </a:pPr>
            <a:r>
              <a:rPr lang="en-US" sz="1800" kern="0" spc="-108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Customer Satisfaction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40644" y="3989557"/>
            <a:ext cx="866738" cy="4435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492"/>
              </a:lnSpc>
            </a:pPr>
            <a:r>
              <a:rPr lang="en-US" sz="3000" kern="0" spc="-18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85%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357563" y="5508880"/>
            <a:ext cx="2595563" cy="510920"/>
          </a:xfrm>
          <a:prstGeom prst="rect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09938" y="6163605"/>
            <a:ext cx="2690813" cy="2661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95"/>
              </a:lnSpc>
            </a:pPr>
            <a:r>
              <a:rPr lang="en-US" sz="1800" kern="0" spc="-108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Churn Rate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64819" y="4992873"/>
            <a:ext cx="780976" cy="4435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492"/>
              </a:lnSpc>
            </a:pPr>
            <a:r>
              <a:rPr lang="en-US" sz="3000" kern="0" spc="-18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12%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238875" y="2698814"/>
            <a:ext cx="2595563" cy="3320986"/>
          </a:xfrm>
          <a:prstGeom prst="rect">
            <a:avLst/>
          </a:prstGeom>
          <a:solidFill>
            <a:srgbClr val="FD864D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91250" y="6163605"/>
            <a:ext cx="2690813" cy="2661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95"/>
              </a:lnSpc>
            </a:pPr>
            <a:r>
              <a:rPr lang="en-US" sz="1800" kern="0" spc="-108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Lifetime Value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12794" y="4138576"/>
            <a:ext cx="847669" cy="4435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492"/>
              </a:lnSpc>
            </a:pPr>
            <a:r>
              <a:rPr lang="en-US" sz="3000" kern="0" spc="-18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78%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9120188" y="4955382"/>
            <a:ext cx="2595563" cy="1064418"/>
          </a:xfrm>
          <a:prstGeom prst="rect">
            <a:avLst/>
          </a:prstGeom>
          <a:solidFill>
            <a:srgbClr val="FF8000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72563" y="6163605"/>
            <a:ext cx="2690813" cy="2661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95"/>
              </a:lnSpc>
            </a:pPr>
            <a:r>
              <a:rPr lang="en-US" sz="1800" kern="0" spc="-108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Conversion Rate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989344" y="5266860"/>
            <a:ext cx="857250" cy="4435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492"/>
              </a:lnSpc>
            </a:pPr>
            <a:r>
              <a:rPr lang="en-US" sz="3000" kern="0" spc="-18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25%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8861"/>
            <a:ext cx="11334750" cy="5543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65"/>
              </a:lnSpc>
            </a:pPr>
            <a:r>
              <a:rPr lang="en-US" sz="3750" kern="0" spc="-22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Automated Task Prioritization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0" y="1590675"/>
            <a:ext cx="3619500" cy="2300288"/>
          </a:xfrm>
          <a:prstGeom prst="rect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823498"/>
            <a:ext cx="3238500" cy="3014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375"/>
              </a:lnSpc>
            </a:pPr>
            <a:r>
              <a:rPr lang="en-US" sz="2040" kern="0" spc="-12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AI-Powered Task Analysis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233706"/>
            <a:ext cx="3346042" cy="13166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3"/>
              </a:lnSpc>
              <a:spcBef>
                <a:spcPts val="839"/>
              </a:spcBef>
            </a:pP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Leverage AI algorithms to analyze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your product management tasks and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prioritize them based on factors like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urgency, impact, and resource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requirements.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286250" y="1590675"/>
            <a:ext cx="3619500" cy="2300288"/>
          </a:xfrm>
          <a:prstGeom prst="rect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0" y="1823498"/>
            <a:ext cx="3238500" cy="3014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375"/>
              </a:lnSpc>
            </a:pPr>
            <a:r>
              <a:rPr lang="en-US" sz="2040" kern="0" spc="-12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Intelligent Task Allocation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0" y="2233706"/>
            <a:ext cx="3406229" cy="13166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3"/>
              </a:lnSpc>
              <a:spcBef>
                <a:spcPts val="839"/>
              </a:spcBef>
            </a:pP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AI-driven task prioritization can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automatically assign tasks to the right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team members based on their skills,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availability, and workload, ensuring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optimal utilization of resources.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096250" y="1590675"/>
            <a:ext cx="3619500" cy="2300288"/>
          </a:xfrm>
          <a:prstGeom prst="rect">
            <a:avLst/>
          </a:prstGeom>
          <a:solidFill>
            <a:srgbClr val="FD864D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82000" y="1823498"/>
            <a:ext cx="3238500" cy="3014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375"/>
              </a:lnSpc>
            </a:pPr>
            <a:r>
              <a:rPr lang="en-US" sz="2040" kern="0" spc="-12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Predictive Task Scheduling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82000" y="2233706"/>
            <a:ext cx="3341676" cy="131666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3"/>
              </a:lnSpc>
              <a:spcBef>
                <a:spcPts val="839"/>
              </a:spcBef>
            </a:pP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models can forecast task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completion times and dependencies,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allowing you to create more accurate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and realistic product roadmaps and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schedules.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4081463"/>
            <a:ext cx="5524500" cy="2300288"/>
          </a:xfrm>
          <a:prstGeom prst="rect">
            <a:avLst/>
          </a:prstGeom>
          <a:solidFill>
            <a:srgbClr val="FF8000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000" y="4314285"/>
            <a:ext cx="5143500" cy="3014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375"/>
              </a:lnSpc>
            </a:pPr>
            <a:r>
              <a:rPr lang="en-US" sz="2040" kern="0" spc="-12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Adaptive Task Reprioritization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2000" y="4724493"/>
            <a:ext cx="5372617" cy="7899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3"/>
              </a:lnSpc>
              <a:spcBef>
                <a:spcPts val="839"/>
              </a:spcBef>
            </a:pP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 conditions change, AI-powered task prioritization can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dynamically adjust priorities, helping you respond to market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shifts and unexpected challenges.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91250" y="4081463"/>
            <a:ext cx="5524500" cy="2300288"/>
          </a:xfrm>
          <a:prstGeom prst="rect">
            <a:avLst/>
          </a:prstGeom>
          <a:solidFill>
            <a:srgbClr val="FF797A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77000" y="4314285"/>
            <a:ext cx="5143500" cy="3014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375"/>
              </a:lnSpc>
            </a:pPr>
            <a:r>
              <a:rPr lang="en-US" sz="2040" kern="0" spc="-12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Collaborative Task Management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77000" y="4724493"/>
            <a:ext cx="5466658" cy="7899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73"/>
              </a:lnSpc>
              <a:spcBef>
                <a:spcPts val="839"/>
              </a:spcBef>
            </a:pP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Integrate AI-driven task prioritization with your team's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collaboration tools, enabling real-time updates and seamless</a:t>
            </a:r>
            <a:b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task coordination across the organization.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8861"/>
            <a:ext cx="11334750" cy="5543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65"/>
              </a:lnSpc>
            </a:pPr>
            <a:r>
              <a:rPr lang="en-US" sz="3750" kern="0" spc="-22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Predictive Risk Analysis</a:t>
            </a: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590600"/>
            <a:ext cx="6743700" cy="7429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10450" y="1600200"/>
            <a:ext cx="43053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32626" y="1683786"/>
            <a:ext cx="6430863" cy="5543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6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553325" y="1737531"/>
            <a:ext cx="4386729" cy="4435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46"/>
              </a:lnSpc>
            </a:pPr>
            <a: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Leverage AI algorithms to continuously monitor your</a:t>
            </a:r>
            <a:b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product management processes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462" y="2381157"/>
            <a:ext cx="5867400" cy="7334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970236" y="2352675"/>
            <a:ext cx="474551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072840" y="2474361"/>
            <a:ext cx="5550452" cy="5543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6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113111" y="2528106"/>
            <a:ext cx="4554978" cy="4435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46"/>
              </a:lnSpc>
            </a:pPr>
            <a: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Utilize historical data and real-time insights to identify</a:t>
            </a:r>
            <a:b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potential risks and bottlenecks</a:t>
            </a:r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674" y="3171713"/>
            <a:ext cx="4991100" cy="73342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530022" y="3143250"/>
            <a:ext cx="518572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1513054" y="3264936"/>
            <a:ext cx="4670041" cy="5543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6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672897" y="3318681"/>
            <a:ext cx="4995137" cy="4435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46"/>
              </a:lnSpc>
            </a:pPr>
            <a: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Receive proactive alerts and recommendations to mitigate</a:t>
            </a:r>
            <a:b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issues before they escalate</a:t>
            </a:r>
            <a:endParaRPr lang="en-US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6893" y="3962270"/>
            <a:ext cx="4105275" cy="73342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089809" y="3933825"/>
            <a:ext cx="5625941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1953268" y="4055511"/>
            <a:ext cx="3789629" cy="5543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6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6232684" y="4109256"/>
            <a:ext cx="5816389" cy="4435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46"/>
              </a:lnSpc>
            </a:pPr>
            <a: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Simulate different scenarios and model the impact of potential risks on</a:t>
            </a:r>
            <a:b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your product roadmap</a:t>
            </a:r>
            <a:endParaRPr lang="en-US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7105" y="4752826"/>
            <a:ext cx="3228975" cy="73342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649595" y="4724400"/>
            <a:ext cx="6066155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2393481" y="4846086"/>
            <a:ext cx="2909218" cy="5543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6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5792470" y="4899831"/>
            <a:ext cx="5968222" cy="4435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46"/>
              </a:lnSpc>
            </a:pPr>
            <a: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Prioritize and address critical risks to ensure your product development</a:t>
            </a:r>
            <a:b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stays on track</a:t>
            </a:r>
            <a:endParaRPr lang="en-US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7318" y="5543475"/>
            <a:ext cx="2343150" cy="73342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5209381" y="5514975"/>
            <a:ext cx="650636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/>
          <p:nvPr/>
        </p:nvSpPr>
        <p:spPr>
          <a:xfrm>
            <a:off x="2833695" y="5636661"/>
            <a:ext cx="2028806" cy="5543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6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6</a:t>
            </a: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5352256" y="5690406"/>
            <a:ext cx="6399659" cy="4435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746"/>
              </a:lnSpc>
            </a:pPr>
            <a: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Empower your team with AI-driven risk management capabilities for greater</a:t>
            </a:r>
            <a:b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00" kern="0" spc="-9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agility and resilience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8861"/>
            <a:ext cx="11334750" cy="5543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65"/>
              </a:lnSpc>
            </a:pPr>
            <a:r>
              <a:rPr lang="en-US" sz="3750" kern="0" spc="-22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Personalized Workflow Optimization</a:t>
            </a: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876350"/>
            <a:ext cx="6953250" cy="9906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35426"/>
            <a:ext cx="1143000" cy="14382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33500" y="2219976"/>
            <a:ext cx="6086512" cy="3014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375"/>
              </a:lnSpc>
            </a:pPr>
            <a:r>
              <a:rPr lang="en-US" sz="2040" kern="0" spc="-12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Tailored Automation Recommendations</a:t>
            </a:r>
            <a:endParaRPr lang="en-US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954983"/>
            <a:ext cx="10572750" cy="9906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754672"/>
            <a:ext cx="1143000" cy="10953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333500" y="3298682"/>
            <a:ext cx="9715500" cy="3014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375"/>
              </a:lnSpc>
            </a:pPr>
            <a:r>
              <a:rPr lang="en-US" sz="2040" kern="0" spc="-12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Adaptive Task Prioritization</a:t>
            </a:r>
            <a:endParaRPr lang="en-US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033707"/>
            <a:ext cx="3324225" cy="99060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128957"/>
            <a:ext cx="1143000" cy="109537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333500" y="4224989"/>
            <a:ext cx="2457524" cy="60294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375"/>
              </a:lnSpc>
            </a:pPr>
            <a:r>
              <a:rPr lang="en-US" sz="2040" kern="0" spc="-12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Intelligent Workflow</a:t>
            </a:r>
            <a:br>
              <a:rPr lang="en-US" sz="2040" kern="0" spc="-12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2040" kern="0" spc="-12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Insights</a:t>
            </a:r>
            <a:endParaRPr lang="en-US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5112432"/>
            <a:ext cx="9544050" cy="990600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5207682"/>
            <a:ext cx="1143000" cy="1438275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333500" y="5456095"/>
            <a:ext cx="8678633" cy="30147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375"/>
              </a:lnSpc>
            </a:pPr>
            <a:r>
              <a:rPr lang="en-US" sz="2040" kern="0" spc="-122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Seamless Tool Integration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8861"/>
            <a:ext cx="11334750" cy="5543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365"/>
              </a:lnSpc>
            </a:pPr>
            <a:r>
              <a:rPr lang="en-US" sz="3750" kern="0" spc="-225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Empowering Your Team</a:t>
            </a:r>
            <a:endParaRPr lang="en-US" dirty="0"/>
          </a:p>
        </p:txBody>
      </p:sp>
      <p:pic>
        <p:nvPicPr>
          <p:cNvPr id="3" name="Image 0" descr="Sarah Johnson headshot, in a &quot;Flat black-and-white vector line illustration. Simple shapes and lines, with even line weight and no shading. Very minimal, iconic and graphic.&quot; sty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1969" y="2396252"/>
            <a:ext cx="2381250" cy="2381250"/>
          </a:xfrm>
          <a:prstGeom prst="ellipse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1969" y="2396252"/>
            <a:ext cx="2381250" cy="2381250"/>
          </a:xfrm>
          <a:prstGeom prst="ellipse">
            <a:avLst/>
          </a:prstGeom>
          <a:noFill/>
          <a:ln w="50800">
            <a:solidFill>
              <a:srgbClr val="FFD9AD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4921307"/>
            <a:ext cx="2547938" cy="2661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95"/>
              </a:lnSpc>
            </a:pPr>
            <a:r>
              <a:rPr lang="en-US" sz="1800" kern="0" spc="-108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Sarah Johnson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28625" y="5265100"/>
            <a:ext cx="2547938" cy="26333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73"/>
              </a:lnSpc>
              <a:spcBef>
                <a:spcPts val="600"/>
              </a:spcBef>
            </a:pP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 Manager</a:t>
            </a:r>
            <a:endParaRPr lang="en-US" dirty="0"/>
          </a:p>
        </p:txBody>
      </p:sp>
      <p:pic>
        <p:nvPicPr>
          <p:cNvPr id="7" name="Image 1" descr="Michael Chen headshot, in a &quot;Flat black-and-white vector line illustration. Simple shapes and lines, with even line weight and no shading. Very minimal, iconic and graphic.&quot; sty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40906" y="2396252"/>
            <a:ext cx="2381250" cy="2381250"/>
          </a:xfrm>
          <a:prstGeom prst="ellipse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40906" y="2396252"/>
            <a:ext cx="2381250" cy="2381250"/>
          </a:xfrm>
          <a:prstGeom prst="ellipse">
            <a:avLst/>
          </a:prstGeom>
          <a:noFill/>
          <a:ln w="50800">
            <a:solidFill>
              <a:srgbClr val="FFD9AD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357563" y="4921307"/>
            <a:ext cx="2547938" cy="2661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95"/>
              </a:lnSpc>
            </a:pPr>
            <a:r>
              <a:rPr lang="en-US" sz="1800" kern="0" spc="-108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Michael Chen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357563" y="5265100"/>
            <a:ext cx="2547938" cy="26333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73"/>
              </a:lnSpc>
              <a:spcBef>
                <a:spcPts val="600"/>
              </a:spcBef>
            </a:pP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Software Engineer</a:t>
            </a:r>
            <a:endParaRPr lang="en-US" dirty="0"/>
          </a:p>
        </p:txBody>
      </p:sp>
      <p:pic>
        <p:nvPicPr>
          <p:cNvPr id="11" name="Image 2" descr="Fatima Ramirez headshot, in a &quot;Flat black-and-white vector line illustration. Simple shapes and lines, with even line weight and no shading. Very minimal, iconic and graphic.&quot; sty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69844" y="2396252"/>
            <a:ext cx="2381250" cy="2381250"/>
          </a:xfrm>
          <a:prstGeom prst="ellipse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369844" y="2396252"/>
            <a:ext cx="2381250" cy="2381250"/>
          </a:xfrm>
          <a:prstGeom prst="ellipse">
            <a:avLst/>
          </a:prstGeom>
          <a:noFill/>
          <a:ln w="50800">
            <a:solidFill>
              <a:srgbClr val="FFD9AD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286500" y="4921307"/>
            <a:ext cx="2547938" cy="2661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95"/>
              </a:lnSpc>
            </a:pPr>
            <a:r>
              <a:rPr lang="en-US" sz="1800" kern="0" spc="-108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Fatima Ramirez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286500" y="5265100"/>
            <a:ext cx="2547938" cy="26333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73"/>
              </a:lnSpc>
              <a:spcBef>
                <a:spcPts val="600"/>
              </a:spcBef>
            </a:pP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UX Designer</a:t>
            </a:r>
            <a:endParaRPr lang="en-US" dirty="0"/>
          </a:p>
        </p:txBody>
      </p:sp>
      <p:pic>
        <p:nvPicPr>
          <p:cNvPr id="15" name="Image 3" descr="Liam Patel headshot, in a &quot;Flat black-and-white vector line illustration. Simple shapes and lines, with even line weight and no shading. Very minimal, iconic and graphic.&quot; styl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98781" y="2396252"/>
            <a:ext cx="2381250" cy="2381250"/>
          </a:xfrm>
          <a:prstGeom prst="ellipse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298781" y="2396252"/>
            <a:ext cx="2381250" cy="2381250"/>
          </a:xfrm>
          <a:prstGeom prst="ellipse">
            <a:avLst/>
          </a:prstGeom>
          <a:noFill/>
          <a:ln w="50800">
            <a:solidFill>
              <a:srgbClr val="FFD9AD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9215438" y="4921307"/>
            <a:ext cx="2547938" cy="2661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95"/>
              </a:lnSpc>
            </a:pPr>
            <a:r>
              <a:rPr lang="en-US" sz="1800" kern="0" spc="-108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Liam Patel</a:t>
            </a: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9215438" y="5265100"/>
            <a:ext cx="2547938" cy="26333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73"/>
              </a:lnSpc>
              <a:spcBef>
                <a:spcPts val="600"/>
              </a:spcBef>
            </a:pPr>
            <a:r>
              <a:rPr lang="en-US" sz="1500" kern="0" spc="-3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Analyst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4495800" cy="5905500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futuristic business technology, in a &quot;Flat black-and-white vector line illustration. Simple shapes and lines, with even line weight and no shading. Very minimal, iconic and graphic.&quot; style"/>
          <p:cNvPicPr>
            <a:picLocks noChangeAspect="1"/>
          </p:cNvPicPr>
          <p:nvPr/>
        </p:nvPicPr>
        <p:blipFill>
          <a:blip r:embed="rId3"/>
          <a:srcRect l="11935" r="11935"/>
          <a:stretch/>
        </p:blipFill>
        <p:spPr>
          <a:xfrm>
            <a:off x="476250" y="476250"/>
            <a:ext cx="4495800" cy="5905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43513" y="2265685"/>
            <a:ext cx="6676988" cy="23284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619"/>
              </a:lnSpc>
            </a:pPr>
            <a:r>
              <a:rPr lang="en-US" sz="2250" kern="0" spc="-13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By embracing the power of AI, your product</a:t>
            </a:r>
            <a:br>
              <a:rPr lang="en-US" sz="2250" kern="0" spc="-13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2250" kern="0" spc="-13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management team can unlock unprecedented levels</a:t>
            </a:r>
            <a:br>
              <a:rPr lang="en-US" sz="2250" kern="0" spc="-13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2250" kern="0" spc="-13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of productivity, efficiency, and strategic insight. With</a:t>
            </a:r>
            <a:br>
              <a:rPr lang="en-US" sz="2250" kern="0" spc="-13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2250" kern="0" spc="-13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cutting-edge tools that streamline workflows, uncover</a:t>
            </a:r>
            <a:br>
              <a:rPr lang="en-US" sz="2250" kern="0" spc="-13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2250" kern="0" spc="-13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customer insights, and mitigate risks, you'll be</a:t>
            </a:r>
            <a:br>
              <a:rPr lang="en-US" sz="2250" kern="0" spc="-13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2250" kern="0" spc="-13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empowered to drive your business forward like never</a:t>
            </a:r>
            <a:br>
              <a:rPr lang="en-US" sz="2250" kern="0" spc="-13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2250" kern="0" spc="-135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before.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39CE5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Microsoft Macintosh PowerPoint</Application>
  <PresentationFormat>Widescreen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Inter Medium</vt:lpstr>
      <vt:lpstr>Inter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Unlocking Productivity Leveraging AI for Product Management</dc:title>
  <dc:subject>Unlocking Productivity Leveraging AI for Product Management</dc:subject>
  <dc:creator>nenriver@gmail.com</dc:creator>
  <cp:lastModifiedBy>Jin Zhang</cp:lastModifiedBy>
  <cp:revision>1</cp:revision>
  <dcterms:created xsi:type="dcterms:W3CDTF">2026-01-23T04:01:32Z</dcterms:created>
  <dcterms:modified xsi:type="dcterms:W3CDTF">2026-01-23T04:01:51Z</dcterms:modified>
</cp:coreProperties>
</file>