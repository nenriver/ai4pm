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DM Sans" pitchFamily="2" charset="77"/>
      <p:regular r:id="rId15"/>
      <p:bold r:id="rId16"/>
      <p:italic r:id="rId17"/>
      <p:boldItalic r:id="rId18"/>
    </p:embeddedFont>
    <p:embeddedFont>
      <p:font typeface="DM Sans Bold" pitchFamily="2" charset="77"/>
      <p:regular r:id="rId19"/>
      <p:bold r:id="rId20"/>
    </p:embeddedFont>
    <p:embeddedFont>
      <p:font typeface="Georgia Pro Light" panose="020F0302020204030204" pitchFamily="3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71" autoAdjust="0"/>
  </p:normalViewPr>
  <p:slideViewPr>
    <p:cSldViewPr>
      <p:cViewPr varScale="1">
        <p:scale>
          <a:sx n="76" d="100"/>
          <a:sy n="76" d="100"/>
        </p:scale>
        <p:origin x="54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991600" cy="10287000"/>
            <a:chOff x="0" y="0"/>
            <a:chExt cx="1035548" cy="1184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548" cy="1184737"/>
            </a:xfrm>
            <a:custGeom>
              <a:avLst/>
              <a:gdLst/>
              <a:ahLst/>
              <a:cxnLst/>
              <a:rect l="l" t="t" r="r" b="b"/>
              <a:pathLst>
                <a:path w="1035548" h="1184737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44200" y="666750"/>
            <a:ext cx="6877050" cy="585084"/>
            <a:chOff x="0" y="0"/>
            <a:chExt cx="9169400" cy="780112"/>
          </a:xfrm>
        </p:grpSpPr>
        <p:sp>
          <p:nvSpPr>
            <p:cNvPr id="5" name="Freeform 5"/>
            <p:cNvSpPr/>
            <p:nvPr/>
          </p:nvSpPr>
          <p:spPr>
            <a:xfrm rot="-5400000" flipH="1">
              <a:off x="36553" y="74861"/>
              <a:ext cx="555143" cy="628248"/>
            </a:xfrm>
            <a:custGeom>
              <a:avLst/>
              <a:gdLst/>
              <a:ahLst/>
              <a:cxnLst/>
              <a:rect l="l" t="t" r="r" b="b"/>
              <a:pathLst>
                <a:path w="555143" h="628248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5304" y="95250"/>
              <a:ext cx="8374096" cy="6848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5"/>
                </a:lnSpc>
              </a:pPr>
              <a:r>
                <a:rPr lang="en-US" sz="3864" spc="-77">
                  <a:solidFill>
                    <a:srgbClr val="1A1A1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Tech Innovators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734675" y="1562100"/>
            <a:ext cx="6886575" cy="2375603"/>
            <a:chOff x="0" y="0"/>
            <a:chExt cx="9182100" cy="3167470"/>
          </a:xfrm>
        </p:grpSpPr>
        <p:sp>
          <p:nvSpPr>
            <p:cNvPr id="8" name="TextBox 8"/>
            <p:cNvSpPr txBox="1"/>
            <p:nvPr/>
          </p:nvSpPr>
          <p:spPr>
            <a:xfrm>
              <a:off x="0" y="200025"/>
              <a:ext cx="9182100" cy="1920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</a:pPr>
              <a:r>
                <a:rPr lang="en-US" sz="10499">
                  <a:solidFill>
                    <a:srgbClr val="1A1A1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AI Tools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71815"/>
              <a:ext cx="917267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39"/>
                </a:lnSpc>
              </a:pPr>
              <a:r>
                <a:rPr lang="en-US" sz="3599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for Product Management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44200" y="8705184"/>
            <a:ext cx="5743575" cy="932985"/>
            <a:chOff x="0" y="-47625"/>
            <a:chExt cx="7658100" cy="1243979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91344"/>
              <a:ext cx="7658100" cy="5050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 dirty="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Jin Zhang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7658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PRESENTED BY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2632656"/>
            <a:chOff x="0" y="0"/>
            <a:chExt cx="11099800" cy="351020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1A1A1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Why AI Matters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1462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AI is </a:t>
              </a:r>
              <a:r>
                <a:rPr lang="en-US" sz="2100" b="1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transforming</a:t>
              </a: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 product management and marketing strategies in the B2B high tech sector, enhancing decision-making and driving efficiency across various processes.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33425"/>
            <a:ext cx="15821025" cy="226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1A1A1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Categories of AI Tools in B2B PM &amp; Marketing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4248150"/>
            <a:ext cx="4314825" cy="3391992"/>
            <a:chOff x="0" y="0"/>
            <a:chExt cx="5753100" cy="4522656"/>
          </a:xfrm>
        </p:grpSpPr>
        <p:sp>
          <p:nvSpPr>
            <p:cNvPr id="4" name="TextBox 4"/>
            <p:cNvSpPr txBox="1"/>
            <p:nvPr/>
          </p:nvSpPr>
          <p:spPr>
            <a:xfrm>
              <a:off x="0" y="1146175"/>
              <a:ext cx="5753100" cy="337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AI tools for market research analyze vast data sets, providing insights into </a:t>
              </a:r>
              <a:r>
                <a:rPr lang="en-US" sz="2099" b="1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consumer behavior</a:t>
              </a:r>
              <a:r>
                <a:rPr lang="en-US" sz="2099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, trends, and competitor strategies, enabling businesses to make informed decisions for product development.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MARKET RESEARCH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19850" y="4248150"/>
            <a:ext cx="4314825" cy="4120559"/>
            <a:chOff x="0" y="0"/>
            <a:chExt cx="5753100" cy="5494078"/>
          </a:xfrm>
        </p:grpSpPr>
        <p:sp>
          <p:nvSpPr>
            <p:cNvPr id="7" name="TextBox 7"/>
            <p:cNvSpPr txBox="1"/>
            <p:nvPr/>
          </p:nvSpPr>
          <p:spPr>
            <a:xfrm>
              <a:off x="0" y="1146175"/>
              <a:ext cx="5753100" cy="43479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Leveraging AI in customer engagement enhances personalized interactions through targeted messaging and automated responses, allowing businesses to build stronger relationships while improving customer satisfaction and retention rates.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CUSTOMER ENGAGEMENT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72950" y="4248150"/>
            <a:ext cx="4314825" cy="3756275"/>
            <a:chOff x="0" y="0"/>
            <a:chExt cx="5753100" cy="50083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6175"/>
              <a:ext cx="5753100" cy="38621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AI-driven content creation tools assist marketers in generating relevant, high-quality content quickly, ensuring alignment with audience interests, ultimately fostering better brand visibility and engagement through tailored messaging.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CONTENT CREATION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4118556"/>
            <a:chOff x="0" y="0"/>
            <a:chExt cx="11099800" cy="549140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1A1A1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Tool Spotlight: Gong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195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Gong is a </a:t>
              </a:r>
              <a:r>
                <a:rPr lang="en-US" sz="2100" b="1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conversation intelligence platform</a:t>
              </a: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 that analyzes sales calls to identify customer needs, improve messaging, and accelerate sales cycles, enhancing overall sales effectiveness for B2B organizations.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3747081"/>
            <a:chOff x="0" y="0"/>
            <a:chExt cx="11099800" cy="499610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1A1A1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Tool Spotlight: HubSpot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1462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HubSpot AI enhances marketing automation through features like lead scoring and personalization, helping B2B businesses streamline campaigns and improve customer engagement effectively.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3004131"/>
            <a:chOff x="0" y="0"/>
            <a:chExt cx="11099800" cy="400550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1A1A1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Crystal Knows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195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Crystal Knows is an </a:t>
              </a:r>
              <a:r>
                <a:rPr lang="en-US" sz="2100" b="1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AI-driven tool</a:t>
              </a: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 that analyzes personality profiles, enabling product managers and marketers to tailor their communication strategies for better engagement and resonance with their audience.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3747081"/>
            <a:chOff x="0" y="0"/>
            <a:chExt cx="11099800" cy="499610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1A1A1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Tool Spotlight: Drift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1462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Drift is an </a:t>
              </a:r>
              <a:r>
                <a:rPr lang="en-US" sz="2100" b="1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AI chat</a:t>
              </a: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 and conversational marketing platform that automates customer engagement, efficiently qualifying leads and enhancing overall website interaction to shorten sales cycles.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4118556"/>
            <a:chOff x="0" y="0"/>
            <a:chExt cx="11099800" cy="549140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1A1A1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Tool Spotlight: Clearscope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195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Clearscope is an AI-driven content optimization tool that enhances SEO strategies. It helps marketers ensure content relevance, improves organic search rankings, and supports effective marketing strategies.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3747081"/>
            <a:chOff x="0" y="0"/>
            <a:chExt cx="11099800" cy="499610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1A1A1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Tableau with AI Features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1462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Tableau is a leading data visualization tool that integrates AI-driven predictive analytics, enabling product managers to make data-informed decisions and enhance marketing strategies effectively.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4118556"/>
            <a:chOff x="0" y="0"/>
            <a:chExt cx="11099800" cy="549140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1A1A1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Tool Spotlight: MarketMuse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195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MarketMuse is an </a:t>
              </a:r>
              <a:r>
                <a:rPr lang="en-US" sz="2100" b="1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AI-powered content strategy platform</a:t>
              </a:r>
              <a:r>
                <a:rPr lang="en-US" sz="2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 that identifies content gaps and guides creation aligned with customer intent, empowering marketers to enhance their content strategies effectively.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23900"/>
            <a:ext cx="5753100" cy="199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55"/>
              </a:lnSpc>
              <a:spcBef>
                <a:spcPct val="0"/>
              </a:spcBef>
            </a:pPr>
            <a:r>
              <a:rPr lang="en-US" sz="7050">
                <a:solidFill>
                  <a:srgbClr val="1A1A1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Benefits &amp; Considerations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296400" y="2419350"/>
            <a:ext cx="7191375" cy="135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8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AI tools significantly enhance </a:t>
            </a:r>
            <a:r>
              <a:rPr lang="en-US" sz="1968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operational efficiency</a:t>
            </a:r>
            <a:r>
              <a:rPr lang="en-US" sz="1968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by automating routine tasks, allowing teams to focus on strategic initiatives. This streamlining leads to faster decision-making and improved productivity across departments.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96400" y="1514475"/>
            <a:ext cx="7191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INCREASED EFFICIENCY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0" y="5105400"/>
            <a:ext cx="7191375" cy="170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8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While leveraging AI tools offers numerous advantages, </a:t>
            </a:r>
            <a:r>
              <a:rPr lang="en-US" sz="1968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data privacy concerns</a:t>
            </a:r>
            <a:r>
              <a:rPr lang="en-US" sz="1968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must be addressed. Ensuring compliance with regulations and safeguarding sensitive information is crucial for maintaining customer trust and organizational integrity.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96400" y="4200525"/>
            <a:ext cx="7191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DATA PRIVACY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0" y="2406015"/>
            <a:ext cx="7191375" cy="1442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3"/>
              </a:lnSpc>
            </a:pPr>
            <a:r>
              <a:rPr lang="en-US" sz="2073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Assess current processes to identify areas where AI tools can streamline operations, enhance productivity, and support decision-making, ensuring alignment with strategic business objectives.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296400" y="1510665"/>
            <a:ext cx="7191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EVALUATE WORKFLOWS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96400" y="5095875"/>
            <a:ext cx="7191375" cy="1442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3"/>
              </a:lnSpc>
            </a:pPr>
            <a:r>
              <a:rPr lang="en-US" sz="2073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Select a few AI tools that meet your team’s unique needs, allowing for initial testing and feedback to measure effectiveness before wider implementation across the organization.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0" y="4200525"/>
            <a:ext cx="7191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PILOT AI TOOLS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96400" y="7778115"/>
            <a:ext cx="7191375" cy="1442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3"/>
              </a:lnSpc>
            </a:pPr>
            <a:r>
              <a:rPr lang="en-US" sz="2073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Provide comprehensive training for team members to ensure smooth adoption of AI technologies, maximizing their potential benefits while addressing any technical challenges and promoting user confidence.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6887795"/>
            <a:ext cx="7191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INVEST IN TRAINING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6750" y="714375"/>
            <a:ext cx="5753100" cy="1585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87"/>
              </a:lnSpc>
              <a:spcBef>
                <a:spcPct val="0"/>
              </a:spcBef>
            </a:pPr>
            <a:r>
              <a:rPr lang="en-US" sz="5625">
                <a:solidFill>
                  <a:srgbClr val="1A1A1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Next Steps &amp;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0067925" cy="3077210"/>
            <a:chOff x="0" y="0"/>
            <a:chExt cx="13423900" cy="4102947"/>
          </a:xfrm>
        </p:grpSpPr>
        <p:sp>
          <p:nvSpPr>
            <p:cNvPr id="3" name="TextBox 3"/>
            <p:cNvSpPr txBox="1"/>
            <p:nvPr/>
          </p:nvSpPr>
          <p:spPr>
            <a:xfrm>
              <a:off x="0" y="66675"/>
              <a:ext cx="134239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1A1A1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Questions and Discussion Time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2395" y="3533775"/>
              <a:ext cx="13401505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LET'S EXPLORE YOUR THOUGHTS AND INQUIRIES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824544" y="8838298"/>
            <a:ext cx="796706" cy="781952"/>
            <a:chOff x="0" y="0"/>
            <a:chExt cx="685800" cy="673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5800" cy="668020"/>
            </a:xfrm>
            <a:custGeom>
              <a:avLst/>
              <a:gdLst/>
              <a:ahLst/>
              <a:cxnLst/>
              <a:rect l="l" t="t" r="r" b="b"/>
              <a:pathLst>
                <a:path w="685800" h="66802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Microsoft Macintosh PowerPoint</Application>
  <PresentationFormat>Custom</PresentationFormat>
  <Paragraphs>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DM Sans</vt:lpstr>
      <vt:lpstr>Georgia Pro Light</vt:lpstr>
      <vt:lpstr>Arial</vt:lpstr>
      <vt:lpstr>Calibri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AI Tools</dc:title>
  <dc:description>Presentation - AI Tools</dc:description>
  <cp:lastModifiedBy>Jin Zhang</cp:lastModifiedBy>
  <cp:revision>2</cp:revision>
  <dcterms:created xsi:type="dcterms:W3CDTF">2006-08-16T00:00:00Z</dcterms:created>
  <dcterms:modified xsi:type="dcterms:W3CDTF">2026-01-29T05:28:52Z</dcterms:modified>
  <dc:identifier>DAG_NcJt2ys</dc:identifier>
</cp:coreProperties>
</file>